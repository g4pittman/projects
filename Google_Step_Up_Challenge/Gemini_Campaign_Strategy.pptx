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42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4610"/>
  </p:normalViewPr>
  <p:slideViewPr>
    <p:cSldViewPr snapToGrid="0" snapToObjects="1">
      <p:cViewPr varScale="1">
        <p:scale>
          <a:sx n="194" d="100"/>
          <a:sy n="194" d="100"/>
        </p:scale>
        <p:origin x="110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8472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ixabay.com/fr/google-logo-ombre-1088004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pixabay.com/fr/google-logo-ombre-1088004/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ixabay.com/fr/google-logo-ombre-1088004/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8707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Intelligence: Strike Emerging Markets Before Competitors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608423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reveals untapped efficiency in SA &amp; EG—window closing fast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65618" y="1041131"/>
            <a:ext cx="3221182" cy="3447741"/>
          </a:xfrm>
          <a:prstGeom prst="rect">
            <a:avLst/>
          </a:prstGeom>
          <a:solidFill>
            <a:srgbClr val="34A853">
              <a:alpha val="87000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  <a:reflection endPos="0" dir="5400000" sy="-100000" algn="bl" rotWithShape="0"/>
            <a:softEdge rad="63500"/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9" name="Picture 8" descr="A group of colorful bars&#10;&#10;AI-generated content may be incorrect.">
            <a:extLst>
              <a:ext uri="{FF2B5EF4-FFF2-40B4-BE49-F238E27FC236}">
                <a16:creationId xmlns:a16="http://schemas.microsoft.com/office/drawing/2014/main" id="{570CD28D-1E74-D577-47B9-F31632118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25" y="806789"/>
            <a:ext cx="5075250" cy="3682084"/>
          </a:xfrm>
          <a:prstGeom prst="rect">
            <a:avLst/>
          </a:prstGeom>
        </p:spPr>
      </p:pic>
      <p:pic>
        <p:nvPicPr>
          <p:cNvPr id="19" name="Picture 18" descr="A colorful letter g on a black background&#10;&#10;AI-generated content may be incorrect.">
            <a:extLst>
              <a:ext uri="{FF2B5EF4-FFF2-40B4-BE49-F238E27FC236}">
                <a16:creationId xmlns:a16="http://schemas.microsoft.com/office/drawing/2014/main" id="{3F107AEF-30FA-60C8-C26D-B230A832EF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164142" y="0"/>
            <a:ext cx="979858" cy="99541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3D80A3F-A672-468C-17E3-97F718CB2317}"/>
              </a:ext>
            </a:extLst>
          </p:cNvPr>
          <p:cNvSpPr txBox="1"/>
          <p:nvPr/>
        </p:nvSpPr>
        <p:spPr>
          <a:xfrm>
            <a:off x="5611091" y="1177636"/>
            <a:ext cx="296487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solidFill>
                  <a:schemeClr val="bg1"/>
                </a:solidFill>
              </a:rPr>
              <a:t>Two Market Playbook: </a:t>
            </a:r>
          </a:p>
          <a:p>
            <a:r>
              <a:rPr lang="en-US" sz="1200" dirty="0">
                <a:solidFill>
                  <a:schemeClr val="bg1"/>
                </a:solidFill>
              </a:rPr>
              <a:t> 1. Emerging (SA/EG) 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chemeClr val="bg1"/>
                </a:solidFill>
              </a:rPr>
              <a:t>Capture uncontested demand with Search 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chemeClr val="bg1"/>
                </a:solidFill>
              </a:rPr>
              <a:t>4x higher conversion | $6 CPA | 70% of budget = 84% of results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2. Saturated (UK/DE)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chemeClr val="bg1"/>
                </a:solidFill>
              </a:rPr>
              <a:t>Shift preference from ChatGPT with YouTube 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chemeClr val="bg1"/>
                </a:solidFill>
              </a:rPr>
              <a:t>Strong brand lift but 4x cost | 30% of budget = strategic presence </a:t>
            </a:r>
          </a:p>
          <a:p>
            <a:pPr marL="171450" indent="-171450">
              <a:buFontTx/>
              <a:buChar char="-"/>
            </a:pP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b="1" u="sng" dirty="0">
                <a:solidFill>
                  <a:schemeClr val="bg1"/>
                </a:solidFill>
              </a:rPr>
              <a:t>Action:</a:t>
            </a:r>
            <a:r>
              <a:rPr lang="en-US" sz="1200" dirty="0">
                <a:solidFill>
                  <a:schemeClr val="bg1"/>
                </a:solidFill>
              </a:rPr>
              <a:t> Launch SA/EG immediately to reach unsaturated markets before competitors and focus on reach. Target saturated markets with conversion strategies.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8993" y="72053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Dual-Channel Approach: Conversions Today, Brand Shift Tomorrow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68993" y="466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captures demand. YouTube shifts preference from ChatGPT to Gemini.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3740727"/>
            <a:ext cx="9144000" cy="1402772"/>
          </a:xfrm>
          <a:prstGeom prst="rect">
            <a:avLst/>
          </a:prstGeom>
          <a:solidFill>
            <a:srgbClr val="4285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  <a:softEdge rad="63500"/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21F1184F-31D7-A066-7C4A-8ACD5B1A8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901541"/>
            <a:ext cx="5278582" cy="2678093"/>
          </a:xfrm>
          <a:prstGeom prst="rect">
            <a:avLst/>
          </a:prstGeom>
        </p:spPr>
      </p:pic>
      <p:pic>
        <p:nvPicPr>
          <p:cNvPr id="14" name="Picture 13" descr="A colorful letter g on a black background&#10;&#10;AI-generated content may be incorrect.">
            <a:extLst>
              <a:ext uri="{FF2B5EF4-FFF2-40B4-BE49-F238E27FC236}">
                <a16:creationId xmlns:a16="http://schemas.microsoft.com/office/drawing/2014/main" id="{8595650E-214A-276B-8FA5-62F0F1EF7D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164142" y="0"/>
            <a:ext cx="979858" cy="9954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4E9A506-44FF-B0C6-CDBA-F0AD6487C9D4}"/>
              </a:ext>
            </a:extLst>
          </p:cNvPr>
          <p:cNvSpPr txBox="1"/>
          <p:nvPr/>
        </p:nvSpPr>
        <p:spPr>
          <a:xfrm>
            <a:off x="180013" y="3861702"/>
            <a:ext cx="8783973" cy="113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1" i="1" u="sng" dirty="0">
                <a:solidFill>
                  <a:schemeClr val="bg1"/>
                </a:solidFill>
              </a:rPr>
              <a:t>Problem</a:t>
            </a:r>
            <a:r>
              <a:rPr lang="en-US" sz="1400" dirty="0">
                <a:solidFill>
                  <a:schemeClr val="bg1"/>
                </a:solidFill>
              </a:rPr>
              <a:t>: Students know Gemini but choose competitors.</a:t>
            </a:r>
          </a:p>
          <a:p>
            <a:pPr algn="ctr"/>
            <a:r>
              <a:rPr lang="en-US" sz="1400" b="1" i="1" u="sng" dirty="0">
                <a:solidFill>
                  <a:schemeClr val="bg1"/>
                </a:solidFill>
              </a:rPr>
              <a:t>Solution</a:t>
            </a:r>
            <a:r>
              <a:rPr lang="en-US" sz="1400" i="1" dirty="0">
                <a:solidFill>
                  <a:schemeClr val="bg1"/>
                </a:solidFill>
              </a:rPr>
              <a:t>: </a:t>
            </a:r>
            <a:r>
              <a:rPr lang="en-US" sz="1400" dirty="0">
                <a:solidFill>
                  <a:schemeClr val="bg1"/>
                </a:solidFill>
              </a:rPr>
              <a:t>YouTube shifts preference (86% lift), Search captures intent ($5.76 CPA). 'Life Hack' creative drives 9.99 consideration score with target demo—2.4x better than next best.</a:t>
            </a:r>
          </a:p>
          <a:p>
            <a:pPr algn="ctr">
              <a:lnSpc>
                <a:spcPct val="150000"/>
              </a:lnSpc>
            </a:pPr>
            <a:r>
              <a:rPr lang="en-US" sz="1400" b="1" i="1" u="sng" dirty="0">
                <a:solidFill>
                  <a:schemeClr val="bg1"/>
                </a:solidFill>
              </a:rPr>
              <a:t>Result</a:t>
            </a:r>
            <a:r>
              <a:rPr lang="en-US" sz="1400" dirty="0">
                <a:solidFill>
                  <a:schemeClr val="bg1"/>
                </a:solidFill>
              </a:rPr>
              <a:t>: Dual-engine approach—build preference (YouTube) while harvesting demand (Search)</a:t>
            </a:r>
          </a:p>
        </p:txBody>
      </p:sp>
      <p:pic>
        <p:nvPicPr>
          <p:cNvPr id="17" name="Picture 16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83C7DE06-C283-C62C-A8EA-2CECB38A70A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893"/>
          <a:stretch>
            <a:fillRect/>
          </a:stretch>
        </p:blipFill>
        <p:spPr>
          <a:xfrm>
            <a:off x="5361243" y="1067464"/>
            <a:ext cx="3602743" cy="24709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551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Allocation: $10M Investment, 1.3M Expected Sign-ups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463697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Efficiency-weighted strategy maximizes ROI in emerging markets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731769"/>
            <a:ext cx="3200399" cy="4229100"/>
          </a:xfrm>
          <a:prstGeom prst="rect">
            <a:avLst/>
          </a:prstGeom>
          <a:solidFill>
            <a:srgbClr val="EA42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  <a:softEdge rad="63500"/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4736592"/>
            <a:ext cx="5760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15" name="Picture 14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E68D3612-D1FA-3DAE-2001-A8F4B9005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087100"/>
            <a:ext cx="5943600" cy="3198634"/>
          </a:xfrm>
          <a:prstGeom prst="rect">
            <a:avLst/>
          </a:prstGeom>
        </p:spPr>
      </p:pic>
      <p:pic>
        <p:nvPicPr>
          <p:cNvPr id="16" name="Picture 15" descr="A colorful letter g on a black background&#10;&#10;AI-generated content may be incorrect.">
            <a:extLst>
              <a:ext uri="{FF2B5EF4-FFF2-40B4-BE49-F238E27FC236}">
                <a16:creationId xmlns:a16="http://schemas.microsoft.com/office/drawing/2014/main" id="{FDB942FB-BEC6-2EA3-570A-706D749666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164142" y="0"/>
            <a:ext cx="979858" cy="99541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30B9CDD-65E6-5ED6-96EC-906370381F02}"/>
              </a:ext>
            </a:extLst>
          </p:cNvPr>
          <p:cNvSpPr txBox="1"/>
          <p:nvPr/>
        </p:nvSpPr>
        <p:spPr>
          <a:xfrm>
            <a:off x="103908" y="898862"/>
            <a:ext cx="299258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u="sng" dirty="0">
                <a:solidFill>
                  <a:schemeClr val="bg1"/>
                </a:solidFill>
              </a:rPr>
              <a:t>Budget Deployment: </a:t>
            </a:r>
          </a:p>
          <a:p>
            <a:r>
              <a:rPr lang="en-US" sz="1200" dirty="0">
                <a:solidFill>
                  <a:schemeClr val="bg1"/>
                </a:solidFill>
              </a:rPr>
              <a:t>SA/EG ($7M): Search-dominant strategy captures greenfield demand 50% Search | 30% YouTube | 20% Social = 1.1M conversions</a:t>
            </a:r>
          </a:p>
          <a:p>
            <a:r>
              <a:rPr lang="en-US" sz="1200" dirty="0">
                <a:solidFill>
                  <a:schemeClr val="bg1"/>
                </a:solidFill>
              </a:rPr>
              <a:t>UK ($3M): YouTube-dominant strategy shifts preference from competitors 45% YouTube | 30% Social | 25% Search = 127K conversions 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b="1" i="1" u="sng" dirty="0">
                <a:solidFill>
                  <a:schemeClr val="bg1"/>
                </a:solidFill>
              </a:rPr>
              <a:t>Creative Strategy: 'Life Hack' </a:t>
            </a:r>
            <a:r>
              <a:rPr lang="en-US" sz="1200" dirty="0">
                <a:solidFill>
                  <a:schemeClr val="bg1"/>
                </a:solidFill>
              </a:rPr>
              <a:t>(YouTube/Social) + 'Study With Me' (Search) Channel-optimized creative deployment maximizes performance 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b="1" i="1" u="sng" dirty="0">
                <a:solidFill>
                  <a:schemeClr val="bg1"/>
                </a:solidFill>
              </a:rPr>
              <a:t>Timeline: </a:t>
            </a:r>
          </a:p>
          <a:p>
            <a:r>
              <a:rPr lang="en-US" sz="1200" dirty="0">
                <a:solidFill>
                  <a:schemeClr val="bg1"/>
                </a:solidFill>
              </a:rPr>
              <a:t>8-week campaign | Free upgrade deadline Sept 2026 Creates urgency aligned with student lifecycle (Finals period) 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First-mover advantage: Execute before OpenAI/Anthropic saturate SA/EG market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318</Words>
  <Application>Microsoft Macintosh PowerPoint</Application>
  <PresentationFormat>On-screen Show (16:9)</PresentationFormat>
  <Paragraphs>32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Gemini Student Campaign Strategy</dc:title>
  <dc:subject>PptxGenJS Presentation</dc:subject>
  <dc:creator>Google Step Up Challenge</dc:creator>
  <cp:lastModifiedBy>Garrett Pittman</cp:lastModifiedBy>
  <cp:revision>2</cp:revision>
  <dcterms:created xsi:type="dcterms:W3CDTF">2026-02-13T02:35:01Z</dcterms:created>
  <dcterms:modified xsi:type="dcterms:W3CDTF">2026-02-13T03:08:58Z</dcterms:modified>
</cp:coreProperties>
</file>